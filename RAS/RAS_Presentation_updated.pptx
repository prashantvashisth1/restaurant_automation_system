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9" r:id="rId31"/>
    <p:sldId id="290" r:id="rId32"/>
    <p:sldId id="291" r:id="rId33"/>
    <p:sldId id="292" r:id="rId34"/>
    <p:sldId id="293" r:id="rId35"/>
    <p:sldId id="295" r:id="rId36"/>
    <p:sldId id="296" r:id="rId3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7722"/>
    <a:srgbClr val="9E7800"/>
    <a:srgbClr val="6719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98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279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0262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5825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37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385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595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960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2542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965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13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733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539371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214071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4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4603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488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0308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9608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064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3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6000148" y="0"/>
            <a:ext cx="1202540" cy="857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6456759" y="4569649"/>
            <a:ext cx="745301" cy="57385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937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4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System</a:t>
            </a:r>
            <a:endParaRPr lang="en-US" sz="4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u="sng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&amp; Project Presentation</a:t>
            </a:r>
            <a:endParaRPr lang="en-US" sz="17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Software Engineering  |  Code: 3004  |  Date: March 26, 2026  |  Version: 1.0 Draft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547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931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(2023UG1044)   ●   Aman Bhaskar (2023UG1047)   ●   Anuj Vishwakarma (2023UG1054)   ●   Nikhil Chaturvedi (2023UG1059)</a:t>
            </a:r>
            <a:endParaRPr lang="en-US" sz="11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0" y="422452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402336" cy="338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9966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 &amp; 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9903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9903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4081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10512"/>
            <a:ext cx="402336" cy="338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8196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 Overview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21992"/>
            <a:ext cx="402336" cy="338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2311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Classes &amp; Operating Environment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33472"/>
            <a:ext cx="402336" cy="338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6426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– Order &amp; Billing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4495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4495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0540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– Price &amp; Inventory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45643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5643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465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– Purchase Orders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8770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– Invoice, Cheque &amp; Reports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27939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7939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2885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9087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69087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47000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– Context (Level 0)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98755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98755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9966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– Level 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139903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39903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14081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– Billing &amp; Inventory Sub-process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181051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81051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18196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 Design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222199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22199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22311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Interface Requirements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263347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63347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0368" y="26426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&amp; Status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54880" y="304495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04495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30368" y="30540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54880" y="345643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45643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30368" y="34655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54880" y="386791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386791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30368" y="38770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Matrix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54880" y="427939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27939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30368" y="42885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Constraints &amp; Limitations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754880" y="469087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4690872"/>
            <a:ext cx="4023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230368" y="47000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20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4CF0FEBF-28DD-84BB-9A9E-04DBBFBAB753}"/>
              </a:ext>
            </a:extLst>
          </p:cNvPr>
          <p:cNvSpPr/>
          <p:nvPr/>
        </p:nvSpPr>
        <p:spPr>
          <a:xfrm>
            <a:off x="274320" y="3867912"/>
            <a:ext cx="402336" cy="338328"/>
          </a:xfrm>
          <a:prstGeom prst="rightArrow">
            <a:avLst/>
          </a:prstGeom>
          <a:solidFill>
            <a:srgbClr val="E87722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r>
              <a:rPr lang="en-IN" sz="800" b="1" dirty="0"/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4000" dirty="0">
              <a:solidFill>
                <a:schemeClr val="tx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Problem Statement</a:t>
            </a:r>
            <a:endParaRPr lang="en-US" sz="40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need for restaurant automation</a:t>
            </a:r>
            <a:endParaRPr lang="en-US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50292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8755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04241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use manual, paper-based billing — prone to errors, slow, and difficult to audit.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655064"/>
            <a:ext cx="8631936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655064"/>
            <a:ext cx="50292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55064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17099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tracked manually — leading to over-ordering, under-ordering, and food waste.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322576"/>
            <a:ext cx="8631936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22576"/>
            <a:ext cx="50292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22576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2377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reorder system — staff must physically count stock and raise purchase requests manually.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2990088"/>
            <a:ext cx="8631936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990088"/>
            <a:ext cx="50292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9008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0449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processing and cheque payments are done manually, causing delays and bookkeeping errors.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" y="3657600"/>
            <a:ext cx="8631936" cy="56692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657600"/>
            <a:ext cx="50292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657600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" y="371246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and expense reports require enormous manual effort — often inaccurate and delayed.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6032" y="4325112"/>
            <a:ext cx="8631936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A3D9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325112"/>
            <a:ext cx="502920" cy="566928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325112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" y="437997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 solves all of this by providing an integrated, offline-capable software platform for restaurants.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point-of-sale order processing and bill generation to eliminate manual billing errors.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live, accurate inventory database of all food ingredients with real-time stock deduction.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automated threshold-based reordering system that generates daily purchase orders.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incoming supplier invoices and automate cheque generation when sufficient funds are available.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secure manager interface with price management controls and full audit logs.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sales reports, expense reports, and statistical item-level analytics on demand.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system to work fully offline, ensuring uninterrupted operation during network downtime.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 Overview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14800" cy="39776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Details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463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Reqts. Specification (SRS)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011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Automation System (RAS)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5603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5603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— Draft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108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1089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26,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6576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6576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42062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65960" y="42062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3004 – Soft. Engg.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73168" y="960120"/>
            <a:ext cx="4114800" cy="39776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1463040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Introduction &amp; Purpose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Overall Description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Functional Requirements (FR-001 to FR-030)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Non-Functional Requirements (NFR-001 to NFR-015)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External Interface Requirements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System Constraints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Traceability Matrix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Glossary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Classes &amp; Characteristics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12344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1920240" cy="12344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972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" y="16459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Level: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078992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and updates item prices with full audit logging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approves daily purchase orders before dispatch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stock levels and views low-stock alerts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monthly sales, expense, and statistical reports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via secure username + password login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359152"/>
            <a:ext cx="8631936" cy="12344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359152"/>
            <a:ext cx="1920240" cy="12344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688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Clerk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" y="30175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Level: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450592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item codes and quantities at POS for every sale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auto-filled prices and confirms transaction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customer bill at end of each transaction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price management, inventory, or reporting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3730752"/>
            <a:ext cx="8631936" cy="12344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730752"/>
            <a:ext cx="1920240" cy="12344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8404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" y="43891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Level: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822192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ingredient issuance: ingredient code, food item, qty issued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invoice data when supplier delivers ingredients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received quantities against purchase orders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billing or price management modules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 &amp; Design Constraints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16352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16352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97840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46304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Windows desktop / workstation at restaurant premises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Local relational DB (SQLite or MySQL) on same machine or LAN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Printer: Standard USB or network printer for bills and cheques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and processed locally — no internet required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function during all restaurant hours (12–16 hrs/day, 7 days/week)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960120"/>
            <a:ext cx="2816352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60120"/>
            <a:ext cx="2816352" cy="4389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7840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73552" y="146304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operate without a continuous internet connection (offline-first)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printing must conform to applicable banking format standards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persist locally to avoid loss on power failure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interface must be protected with authentication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be modular for independent module updates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960120"/>
            <a:ext cx="2816352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960120"/>
            <a:ext cx="2816352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97840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46304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food item has a unique item code known to the sales clerk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maintains a single tracked cash account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⌈Avg daily consumption (last 3 days)⌉ × 2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generated once daily or on demand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days' stock maintained at all times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4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requirements across 6 modules</a:t>
            </a:r>
            <a:endParaRPr lang="en-US" sz="18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123444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7033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Billing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3703320"/>
            <a:ext cx="12344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47088" y="37033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36976" y="3703320"/>
            <a:ext cx="1234440" cy="77724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36976" y="37033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3703320"/>
            <a:ext cx="1234440" cy="7772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37033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6752" y="3703320"/>
            <a:ext cx="1234440" cy="777240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16752" y="37033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Cheque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3703320"/>
            <a:ext cx="1234440" cy="777240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37033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Order Processing &amp; Billing  (FR-001 to FR-006)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9966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0058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allow the sales clerk to enter an item code and the quantity sold for each transaction.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6459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6459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16824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FR-002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16916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validate the entered item code against the database and alert the clerk if the code is invalid.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3317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3317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23682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FR-003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3774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retrieve the current price of the item from the database automatically after item code entry.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175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246888" y="30540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compute the total bill: unit price × quantity, summed across all items in the transaction.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7033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7033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37398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FR-005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generate and print a formatted bill whenever one or more food items are sold.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3891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3891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44256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FR-006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44348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shall include: date/time of sale, item name, item code, quantity, unit price, line total, and grand total.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Price Management (FR-007–010) &amp; Inventory (FR-011–014)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9966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FR-007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0058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maintain the current selling price of every menu item in the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478585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78585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1515161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FR-008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1524305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shall be able to view the price of any item at any time via the price management interface.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99705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199705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203362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FR-009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04277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shall be able to update the price of any item; change takes effect immediately for all subsequent bills.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515514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515514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55209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FR-010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256123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 changes logged with: date, time, old price, new price, and identity of the manager who made the change.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033979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033979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3070555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FR-011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3079699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maintain a record of the current stock quantity for each ingredient.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552444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52444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358902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FR-012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359816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 shall enter: ingredient code, food item for which it is used, and quantity issued.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070909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070909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4107485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FR-013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34440" y="4116629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deduct the issued quantity from the current stock of the corresponding ingredient upon entry.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4589374"/>
            <a:ext cx="8686800" cy="508406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4589374"/>
            <a:ext cx="914400" cy="5084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462595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FR-014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34440" y="463509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record the daily consumption of each ingredient to support threshold calculation.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Automated Purchase Order Generation  (FR-015 to FR-019)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8046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Formula:</a:t>
            </a:r>
            <a:endParaRPr lang="en-US" sz="12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423160" y="1005840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⌈ Average Daily Consumption (last 3 days) ⌉  × 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(Ensures a minimum 2-day safety stock is always maintained)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883664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883664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192024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192938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threshold = ⌈Avg daily consumption (last 3 days)⌉ × 2 for each ingredient.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532888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32888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2569464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578608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a daily basis whether the current stock of any ingredient falls below its computed threshold.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182112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182112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3218688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3227832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a purchase order for any ingredient whose stock falls below the threshold.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831336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831336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246888" y="3867912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3877056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includes: date, ingredient name/code, current stock, threshold value, and order quantity.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4480560"/>
            <a:ext cx="8686800" cy="56692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480560"/>
            <a:ext cx="914400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451713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FR-019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452628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shall be able to review and, if necessary, modify purchase orders before they are finalized.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Invoice Processing &amp; Cheque Printing  (FR-020 to FR-026)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99669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FR-020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0058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 enters invoice data: ingredient code, quantity received, and unit price per item.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549908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549908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1586484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FR-021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1595628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update the stock of the corresponding ingredient by the quantity received on the invoice.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139696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139696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2176272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FR-022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185416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compute total invoice amount and record it as a payable in the accounts ledger.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729484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729484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276606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FR-023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277520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check the current cash balance against the invoice amount before processing payment.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319272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319272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3355848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FR-024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3364992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cash balance is sufficient: print cheque with payee name, amount in figures, amount in words, date, cheque number.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90906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90906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" y="394563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FR-025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4440" y="395478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cash balance is insufficient: flag the invoice as pending and notify the manager immediately.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498848"/>
            <a:ext cx="8686800" cy="58978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4498848"/>
            <a:ext cx="914400" cy="5897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4535424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FR-026</a:t>
            </a:r>
            <a:endParaRPr lang="en-US" sz="1200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34440" y="4544568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update the cash balance upon successful cheque generation and payment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Reporting  (FR-027 to FR-030)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13385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114300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Receipt Report: lists all items sold, quantities, unit prices, and total revenue per item for the selected month.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01168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204825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Expenses Report: lists all purchase invoices paid during the selected month with subtotals and grand total.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92608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296265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FR-029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Sales Report: shows sales volume of each menu item for any specified period to identify popular and slow-moving items.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840480"/>
            <a:ext cx="8686800" cy="658368"/>
          </a:xfrm>
          <a:prstGeom prst="rect">
            <a:avLst/>
          </a:prstGeom>
          <a:solidFill>
            <a:srgbClr val="F7F9FF"/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840480"/>
            <a:ext cx="9144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" y="387705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FR-030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34440" y="388620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shall be viewable on screen and printable via a connected printer on demand.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" y="4773168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 are manager-only — protected behind authentication (see NFR-007).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4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Reliability · Security · Usability · Maintainability · Portability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NFR: Performance &amp; Reliability  (NFR-001 to NFR-006)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576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1371600" cy="57607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7840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52728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19072" y="1005840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generation shall complete within 3 seconds of the clerk submitting the order.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" y="1627632"/>
            <a:ext cx="8631936" cy="576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627632"/>
            <a:ext cx="1371600" cy="57607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45920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920240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19072" y="1673352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purchase order generation process completes within 60 seconds for up to 500 distinct ingredients.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6032" y="2295144"/>
            <a:ext cx="8631936" cy="576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95144"/>
            <a:ext cx="1371600" cy="57607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13432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587752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19072" y="2340864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for any single month shall complete within 30 seconds.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6032" y="2962656"/>
            <a:ext cx="8631936" cy="576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962656"/>
            <a:ext cx="1371600" cy="5760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80944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255264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19072" y="3008376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be available during all restaurant operating hours (12–16 hrs/day, 7 days/week).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56032" y="3630168"/>
            <a:ext cx="8631936" cy="576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630168"/>
            <a:ext cx="1371600" cy="5760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48456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922776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19072" y="3675888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local backup of all data at least once per day to prevent data loss.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56032" y="4297680"/>
            <a:ext cx="8631936" cy="576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4297680"/>
            <a:ext cx="1371600" cy="57607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31596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590288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19072" y="4343400"/>
            <a:ext cx="7040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transaction shall be lost in the event of unexpected shutdown or power failure.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NFR: Security · Usability · Maintainability · Portability  (NFR-007 to NFR-015)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137160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9264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16128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719072" y="9875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management and report modules require manager authentication (username + password).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435608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435608"/>
            <a:ext cx="137160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44752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1636776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19072" y="146304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price-change operations logged with timestamp and manager's user identity.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1911096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911096"/>
            <a:ext cx="137160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20240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NFR-009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2112264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719072" y="193852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interface locks after 5 consecutive failed login attempts; requires manual reset.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386584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386584"/>
            <a:ext cx="1371600" cy="40233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9572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2587752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719072" y="241401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UI simple enough for a basic user after a training session of no longer than 1 hour.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2862072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862072"/>
            <a:ext cx="1371600" cy="40233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7121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3063240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719072" y="2889504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provides meaningful error messages for invalid inputs (unknown item code, non-numeric qty).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" y="3337560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37560"/>
            <a:ext cx="1371600" cy="40233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346704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353872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19072" y="336499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date-entry fields follow a consistent, clearly labeled format: DD/MM/YYYY.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6032" y="3813048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3813048"/>
            <a:ext cx="1371600" cy="402336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22192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014216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719072" y="3840480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designed in a modular fashion so individual modules can be updated independently.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6032" y="4288536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4288536"/>
            <a:ext cx="1371600" cy="402336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97680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4320" y="4489704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719072" y="431596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in a relational DB with a well-documented schema for future maintenance.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6032" y="4764024"/>
            <a:ext cx="8631936" cy="402336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4764024"/>
            <a:ext cx="1371600" cy="402336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773168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" y="4965192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719072" y="479145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shall run on any standard Windows desktop/laptop without specialized hardware.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0D2B"/>
          </a:solidFill>
          <a:ln w="12700">
            <a:solidFill>
              <a:srgbClr val="060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</a:t>
            </a:r>
            <a:endParaRPr lang="en-US" sz="4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 ·  Level 1 DFD  ·  Sub-process Details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— Level 0 DFD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0" y="1874520"/>
            <a:ext cx="2194560" cy="13258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874520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" y="1993392"/>
            <a:ext cx="137160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9933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Clerk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1993392"/>
            <a:ext cx="137160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9933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4114800"/>
            <a:ext cx="137160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4114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4114800"/>
            <a:ext cx="137160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4114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4114800"/>
            <a:ext cx="137160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4114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08760" y="2377440"/>
            <a:ext cx="196596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codes &amp; qty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2377440"/>
            <a:ext cx="196596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1488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issuance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2633472"/>
            <a:ext cx="1965960" cy="0"/>
          </a:xfrm>
          <a:prstGeom prst="line">
            <a:avLst/>
          </a:prstGeom>
          <a:noFill/>
          <a:ln w="25400">
            <a:solidFill>
              <a:srgbClr val="56AB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2743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bills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2633472"/>
            <a:ext cx="1965960" cy="0"/>
          </a:xfrm>
          <a:prstGeom prst="line">
            <a:avLst/>
          </a:prstGeom>
          <a:noFill/>
          <a:ln w="25400">
            <a:solidFill>
              <a:srgbClr val="56AB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7432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Cheques &amp; POs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0" cy="91440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updates &amp; report requests / outputs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960120"/>
            <a:ext cx="2926080" cy="65836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9875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1280160"/>
            <a:ext cx="320040" cy="182880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12527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1252728"/>
            <a:ext cx="320040" cy="20116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12527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 — Decomposed Processes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100584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011680" cy="10058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1005840"/>
            <a:ext cx="2011680" cy="1005840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0058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154680"/>
            <a:ext cx="2011680" cy="100584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154680"/>
            <a:ext cx="2011680" cy="1005840"/>
          </a:xfrm>
          <a:prstGeom prst="ellipse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3154680"/>
            <a:ext cx="2011680" cy="100584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154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2423160"/>
            <a:ext cx="14630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42316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Item 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69080" y="2423160"/>
            <a:ext cx="14630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42316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Stock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2423160"/>
            <a:ext cx="14630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42316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Invoice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2011680"/>
            <a:ext cx="9144" cy="41148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011680"/>
            <a:ext cx="9144" cy="41148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2011680"/>
            <a:ext cx="9144" cy="41148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2898648"/>
            <a:ext cx="9144" cy="25603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2898648"/>
            <a:ext cx="9144" cy="256032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315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Data flows between processes and data stores. Detailed flows shown in Level 2 (next slides).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DFD: Billing Process — Detailed Data Flows (P1)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1A33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02920" cy="5029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enters item code + qty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1A33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502920" cy="5029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code vs Item 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1A33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43000"/>
            <a:ext cx="502920" cy="5029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1170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price from Item 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65176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1A33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502920" cy="5029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0906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line totals &amp; grand total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65176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1A33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63240"/>
            <a:ext cx="502920" cy="5029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0906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formatted bill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5176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1A338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063240"/>
            <a:ext cx="502920" cy="5029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0906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Printer → Print bill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0" y="1463040"/>
            <a:ext cx="27432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1463040"/>
            <a:ext cx="27432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3383280"/>
            <a:ext cx="27432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383280"/>
            <a:ext cx="274320" cy="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1920240"/>
            <a:ext cx="0" cy="1005840"/>
          </a:xfrm>
          <a:prstGeom prst="line">
            <a:avLst/>
          </a:prstGeom>
          <a:noFill/>
          <a:ln w="25400">
            <a:solidFill>
              <a:srgbClr val="E877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212848"/>
            <a:ext cx="2651760" cy="438912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2128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Item Price Database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DFD: Inventory &amp; Purchase Order Data Flows (P3 &amp; P4)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069080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069080" cy="42062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78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– Inventory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keeper enters: ingredient code + qty issued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deducts qty from current stock (D2)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consumption recorded for threshold calc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 raised if stock &lt; threshold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Stock DB (D2)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069080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4069080" cy="42062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978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– Purchase Order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1463040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check all ingredient stocks vs threshold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⌈Avg 3-day consumption⌉ × 2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PO for each under-threshold item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includes: date, code, current stock, order qty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reviews, modifies &amp; finalizes PO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 Design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4754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User Interface (Screens)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Billing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Mgmt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9584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Entry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87568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View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45552" y="1536192"/>
            <a:ext cx="100584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15361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212848"/>
            <a:ext cx="8631936" cy="420624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23113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— Core Modules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" y="2697480"/>
            <a:ext cx="1298448" cy="56692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26974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Engine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47088" y="2697480"/>
            <a:ext cx="129844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47088" y="26974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Manager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0128" y="2697480"/>
            <a:ext cx="1298448" cy="56692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0128" y="26974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Mgr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697480"/>
            <a:ext cx="1298448" cy="5669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26974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Generator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6208" y="2697480"/>
            <a:ext cx="1298448" cy="566928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36208" y="26974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Proc.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99248" y="2697480"/>
            <a:ext cx="1298448" cy="566928"/>
          </a:xfrm>
          <a:prstGeom prst="rect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99248" y="2697480"/>
            <a:ext cx="1298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Engine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6032" y="3429000"/>
            <a:ext cx="8631936" cy="42062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4472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Local Relational Database (SQLite / MySQL)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92608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71600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50592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0592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29584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9584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08576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87568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PriceLog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66560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45552" y="3904488"/>
            <a:ext cx="1005840" cy="475488"/>
          </a:xfrm>
          <a:prstGeom prst="rect">
            <a:avLst/>
          </a:prstGeom>
          <a:solidFill>
            <a:srgbClr val="FFFDE7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45552" y="39044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4434840"/>
            <a:ext cx="8631936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45312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Layer: Windows OS  |  Printer (USB/Network)  |  Local Machine Storage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Interface Requirements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16352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16352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97840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46304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(manager auth)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/ POS Screen (clerk)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Management Screen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Issuance Screen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Entry Screen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View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Screen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Overview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960120"/>
            <a:ext cx="2816352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60120"/>
            <a:ext cx="2816352" cy="4389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7840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Interfaces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73552" y="146304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USB or network-connected printer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printing customer bills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printing supplier cheques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 printer availability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user if printer is offline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desktop/workstation PC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960120"/>
            <a:ext cx="2816352" cy="4005072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960120"/>
            <a:ext cx="2816352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978408"/>
            <a:ext cx="2688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Comms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463040"/>
            <a:ext cx="2633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DB: SQLite or MySQL (same machine/LAN)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— file I/O, printer spool, system 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network communication required (base)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and processed locally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email/cloud backup interface possible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40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Current Status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· Progress · Completion Date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solidFill>
              <a:srgbClr val="9E7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&amp; Milestones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731520" cy="512064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1033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243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15 – Feb 10,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051560"/>
            <a:ext cx="2194560" cy="320040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051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554480"/>
            <a:ext cx="731520" cy="512064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819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Documentation (v1.0)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1837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11 – Mar 26,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1645920"/>
            <a:ext cx="2194560" cy="320040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45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14884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148840"/>
            <a:ext cx="73152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7627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2221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&amp; System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24323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27 – Apr 20,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240280"/>
            <a:ext cx="2194560" cy="320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4320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743200"/>
            <a:ext cx="731520" cy="5120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7063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28163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30266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– Apr 30,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2834640"/>
            <a:ext cx="2194560" cy="3200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333756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337560"/>
            <a:ext cx="731520" cy="512064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36499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" y="3410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Implementation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78992" y="36210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 – Jun 15, 2026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3429000"/>
            <a:ext cx="2194560" cy="320040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393192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3931920"/>
            <a:ext cx="731520" cy="512064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95935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78992" y="42153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16 – Jul 10, 2026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4023360"/>
            <a:ext cx="2194560" cy="320040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4023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4526280"/>
            <a:ext cx="8631936" cy="512064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526280"/>
            <a:ext cx="731520" cy="512064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553712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" y="4599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Final Report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78992" y="48097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 – Jul 25, 2026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4617720"/>
            <a:ext cx="2194560" cy="320040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4617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Status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 Date: July 25,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536192"/>
            <a:ext cx="41148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536192"/>
            <a:ext cx="4114800" cy="256032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463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057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(Level 0 DFD)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2130552"/>
            <a:ext cx="41148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130552"/>
            <a:ext cx="4114800" cy="256032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2057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651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2724912"/>
            <a:ext cx="41148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2724912"/>
            <a:ext cx="349758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6517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246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26280" y="3319272"/>
            <a:ext cx="41148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319272"/>
            <a:ext cx="246888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32461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840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Implementation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3913632"/>
            <a:ext cx="41148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13632"/>
            <a:ext cx="411480" cy="256032"/>
          </a:xfrm>
          <a:prstGeom prst="rect">
            <a:avLst/>
          </a:prstGeom>
          <a:solidFill>
            <a:srgbClr val="1A3385"/>
          </a:solidFill>
          <a:ln w="12700">
            <a:solidFill>
              <a:srgbClr val="1A33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38404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" y="4434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4507992"/>
            <a:ext cx="41148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507992"/>
            <a:ext cx="0" cy="25603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4434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40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— clear accountability for each deliverable</a:t>
            </a:r>
            <a:endParaRPr lang="en-US" sz="1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 — Team Overview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4206240" cy="19202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4206240" cy="4389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96696"/>
            <a:ext cx="4059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 |  2023UG1044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463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overall project coordination and planning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SRS Section 1: Introduction &amp; Section 2: Overall Description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Functional Requirements FR-001 to FR-010 (Billing + Price Mgmt)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Context Diagram (Level 0 DFD) and Level 1 DFD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managed project timeline and milestones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for Sections 1 &amp; 2 during viva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9202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2062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996696"/>
            <a:ext cx="4059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Bhaskar  |  2023UG1047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SRS Section 3: Functional Requirements (FR-011 to FR-020)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Inventory &amp; Purchase Order sub-process DFDs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threshold formula and automated reorder logic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Appendix A: Requirements Traceability Matrix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system architecture and module design slide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for FR sections during viva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990088"/>
            <a:ext cx="4206240" cy="19202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2990088"/>
            <a:ext cx="420624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6664"/>
            <a:ext cx="4059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Vishwakarma  |  2023UG1054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" y="349300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SRS Section 4: Non-Functional Requirements (NFR-001 to NFR-015)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FR-021 to FR-030 (Invoice, Cheque, Reporting)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External Interface Requirements section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System Constraints and Limitations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database schema design (tables &amp; relations)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for NFR &amp; interface sections during viva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90088"/>
            <a:ext cx="4206240" cy="1920240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90088"/>
            <a:ext cx="4206240" cy="43891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3026664"/>
            <a:ext cx="4059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Chaturvedi  |  2023UG1059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9300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formatted final SRS document (LaTeX/Word)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invoice &amp; cheque process DFDs (Level 2)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Appendix B: Glossary and reviewed all definitions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 and quality-checked entire SRS document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designed this PowerPoint presentation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for DFD &amp; design sections during viva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</a:t>
            </a:r>
            <a:endParaRPr lang="en-US" sz="4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4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struggled with and what we gained from it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9E78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Key Learnings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14800" cy="4005072"/>
          </a:xfrm>
          <a:prstGeom prst="rect">
            <a:avLst/>
          </a:prstGeom>
          <a:solidFill>
            <a:srgbClr val="FFF5F5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14800" cy="42062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7840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unambiguous requirements — avoiding vague terms like 'fast' or 'user-friendly'.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the correct level of DFD decomposition without over-specifying the design.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threshold formula correctly and ensuring it aligned with business needs.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as a group — ensuring consistent terminology and style across all sections.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what is in scope vs out of scope (e.g., EFT, multi-branch, payroll).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between too many and too few non-functional requirements.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73168" y="960120"/>
            <a:ext cx="4114800" cy="4005072"/>
          </a:xfrm>
          <a:prstGeom prst="rect">
            <a:avLst/>
          </a:prstGeom>
          <a:solidFill>
            <a:srgbClr val="F0FFF4"/>
          </a:solidFill>
          <a:ln w="12700">
            <a:solidFill>
              <a:srgbClr val="D0D9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960120"/>
            <a:ext cx="4114800" cy="420624"/>
          </a:xfrm>
          <a:prstGeom prst="rect">
            <a:avLst/>
          </a:prstGeom>
          <a:solidFill>
            <a:srgbClr val="1B6E38"/>
          </a:solidFill>
          <a:ln w="12700">
            <a:solidFill>
              <a:srgbClr val="1B6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978408"/>
            <a:ext cx="3986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463040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830 standard for writing SRS — how to structure and prioritize requirements.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notation: difference between external entities, processes, and data stores.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verifiable, testable requirements — each FR can be confirmed or denied.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matrix: mapping requirements to priorities enables focused testing.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design makes systems easier to maintain and extend over time.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technical writing requires shared vocabulary and consistent formatting.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95528"/>
          </a:xfrm>
          <a:prstGeom prst="rect">
            <a:avLst/>
          </a:prstGeom>
          <a:solidFill>
            <a:srgbClr val="0D1B4B"/>
          </a:solidFill>
          <a:ln w="12700">
            <a:solidFill>
              <a:srgbClr val="9E7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Matrix (Partial)</a:t>
            </a:r>
            <a:endParaRPr lang="en-US" sz="2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087820"/>
              </p:ext>
            </p:extLst>
          </p:nvPr>
        </p:nvGraphicFramePr>
        <p:xfrm>
          <a:off x="411480" y="792480"/>
          <a:ext cx="8648700" cy="4351020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item code and 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and print bill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updates item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Mgmt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threshold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 purchase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cash balance vs invoice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cheque against invoice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sales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expenses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sales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37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during operating 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37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authentication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after 5 failed logins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96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architecture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9E7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Constraints &amp; Limitations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LOCATION ONLY: The system handles a single restaurant. Multi-branch support is outside the scope of this version.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CHEQUES ONLY: The cheque printing feature assumes physical cheques. Electronic Fund Transfer (EFT) is not included.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 PARAMETERS: Threshold is based on a fixed 3-day average and 2-day minimum window. These are not configurable in the current version.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ACCOUNTING INTEGRATION: The system does not integrate with external accounting software (e.g., Tally, QuickBooks) in this release.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EMPLOYEE MANAGEMENT: Employee scheduling, payroll, and HR management are explicitly out of scope.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LOYALTY PROGRAMS: Customer management, loyalty points, and CRM features are not included.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ONLY: System runs on Windows OS. Linux or macOS support would require additional porting effort.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DEPENDENCY: Bill and cheque printing requires a physically connected printer; mobile or email-based delivery not supported.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Cross-Questions from Sir — Prepared Answers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74980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4572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875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024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threshold formula and why multiply by 2?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33502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Threshold = ⌈Avg daily consumption last 3 days⌉ × 2. The ×2 ensures we maintain at least 2 days of safety stock at all times.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810512"/>
            <a:ext cx="8631936" cy="74980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810512"/>
            <a:ext cx="4572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1051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8470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cash balance is insufficient for an invoice?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15798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FR-025: The invoice is flagged as 'pending' in the accounts and the manager is immediately notified via the system.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2633472"/>
            <a:ext cx="8631936" cy="74980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633472"/>
            <a:ext cx="4572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3347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2670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system offline-first?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98094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Restaurants operate in environments with unreliable internet. All data must persist locally to ensure uninterrupted operations.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3456432"/>
            <a:ext cx="8631936" cy="74980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456432"/>
            <a:ext cx="4572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45643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3493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security measures are in place for the manager module?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80390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Username + password authentication (NFR-007), all changes logged (NFR-008), and lockout after 5 failed attempts (NFR-009).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4279392"/>
            <a:ext cx="8631936" cy="749808"/>
          </a:xfrm>
          <a:prstGeom prst="rect">
            <a:avLst/>
          </a:prstGeom>
          <a:solidFill>
            <a:srgbClr val="F7F9FF"/>
          </a:solidFill>
          <a:ln w="12700">
            <a:solidFill>
              <a:srgbClr val="D0D9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279392"/>
            <a:ext cx="4572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27939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" y="43159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system prevent unauthorized price changes?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462686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Price management requires manager authentication. Every change is logged with timestamp, old/new price, and manager identity (FR-010).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of Key Terms</a:t>
            </a:r>
            <a:endParaRPr lang="en-US" sz="2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60120"/>
          <a:ext cx="8631936" cy="41696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0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Automation System — the complete software being developed.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Requirements Specification — the document describing what the system must 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Requirement — a specific behavior or function the system must perform.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Non-Functional Requirement — a quality attribute (performance, security, usability, etc.).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Sale — the billing/order entry station used by the sales clerk.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stock quantity for an ingredient; falling below triggers a purchase order.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alphanumeric identifier assigned to each menu item.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raw ingredient used in the kitchen.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System-generated document requesting supply of ingredients from a vendor.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sent by supplier for delivered goods, containing quantity and unit price.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liquid cash available to the restaurant for paying supplier invoices.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0D2B"/>
          </a:solidFill>
          <a:ln w="12700">
            <a:solidFill>
              <a:srgbClr val="060D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1920240"/>
            <a:ext cx="4572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84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Automation System — SRS 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Functional Requirements  ·  15 Non-Functional Requirements  ·  4 DFD Levels  ·  7 Project Phases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4224528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(2023UG1044)  ·  Aman Bhaskar (2023UG1047)  ·  Anuj Vishwakarma (2023UG1054)  ·  Nikhil Chaturvedi (2023UG1059)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3542</Words>
  <Application>Microsoft Office PowerPoint</Application>
  <PresentationFormat>On-screen Show (16:9)</PresentationFormat>
  <Paragraphs>637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Automation System – Software Engineering Presentation</dc:title>
  <dc:subject>PptxGenJS Presentation</dc:subject>
  <dc:creator>PptxGenJS</dc:creator>
  <cp:lastModifiedBy>Aman Bhaskar</cp:lastModifiedBy>
  <cp:revision>3</cp:revision>
  <dcterms:created xsi:type="dcterms:W3CDTF">2026-04-22T04:11:27Z</dcterms:created>
  <dcterms:modified xsi:type="dcterms:W3CDTF">2026-04-22T16:13:32Z</dcterms:modified>
</cp:coreProperties>
</file>